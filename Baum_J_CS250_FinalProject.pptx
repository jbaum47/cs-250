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5" r:id="rId8"/>
    <p:sldId id="261" r:id="rId9"/>
    <p:sldId id="262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67524-414E-4618-97A9-3D3C428EA8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6F26D3-DBC2-126A-7DC7-42CC6F6278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5C8E1-D67F-EB0B-FB86-FF312F69F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CD2D-0507-4637-8F35-10B8E4258089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8A5FF-E0AF-A5F5-32FD-194BE5917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B0CEC-F071-A7CF-FADD-CE7CBB565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1014D-0D67-4084-ADD3-14BA62752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321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DE593-CA13-2408-0018-AF864F587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7E05D-6D9B-339A-1D45-6DDB8464B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872E0-E4DF-62D7-40BA-E08C714A7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CD2D-0507-4637-8F35-10B8E4258089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D871E-8171-34D3-0AC3-E64099D44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A47B8-D6CD-F54A-C467-BA3F633DD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1014D-0D67-4084-ADD3-14BA62752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984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EB7D4-D102-BC5B-1517-0F41A0AE5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B1FC38-1651-ABF2-F9A0-01703240A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E58FF-1CF3-1D71-69A3-8A8F5B526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CD2D-0507-4637-8F35-10B8E4258089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A9B53-0A35-9A8E-7D2B-F68C953B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3C1D2-8DDC-3549-C4B2-231AAE198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1014D-0D67-4084-ADD3-14BA62752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535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18EBD-4336-2B8D-B684-F95EA1E9C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16F56-12DD-F23D-84E3-C5952D6F62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5AB81F-8F1F-4E89-6F89-CCCAC5F5DB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A7901B-7D0B-3CEF-CA94-8FD3EA889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CD2D-0507-4637-8F35-10B8E4258089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D7E89A-19C4-378E-6812-4D5A91749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AD475B-25DB-3CF6-4956-CD8B702F8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1014D-0D67-4084-ADD3-14BA62752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524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897E8-1F5F-E06F-B4FF-8816B56E7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06E95-CC1F-7E16-00DD-6E1271524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E4C0-BE0B-CDCE-2EDF-315ACB808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3C42BC-C5DB-94BD-681B-29B94EB282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952F4A-CE6C-F72F-763B-21974793C4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BDD34C-8097-9A41-608B-C189BD0B4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CD2D-0507-4637-8F35-10B8E4258089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20DBF-DBA0-61A8-1185-36A61A363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C6256F-4BC2-46B7-35DD-2B15E29A0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1014D-0D67-4084-ADD3-14BA62752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870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8B255-8D6D-0690-27E1-3A6AAEECE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41943C-3C0A-7817-46EB-281331929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CD2D-0507-4637-8F35-10B8E4258089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2C70FF-B138-66F2-98EA-9F9E4F3D5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FA5AA5-CA21-CE74-3647-3FA9A8A32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1014D-0D67-4084-ADD3-14BA62752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101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386AD4-0623-E1DF-39C4-A802589FF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CD2D-0507-4637-8F35-10B8E4258089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DF7480-3683-5C65-FA74-F324B4512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D5A3CB-0FF5-6B40-D13F-A1DB4BAD8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1014D-0D67-4084-ADD3-14BA62752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738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7FC14-7FED-DBD3-2D00-AB9A8B3E2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D2D6F-8795-3DC4-4CC8-628406354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71B477-9272-7960-A85C-573A5E39E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6328E-D578-C15E-3970-1F8B51A36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CD2D-0507-4637-8F35-10B8E4258089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A4A9CB-54F7-9D4B-1464-D9F3C6698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6A0755-EAF9-4292-44C6-E143D156A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1014D-0D67-4084-ADD3-14BA62752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390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FAD70-5B6E-766D-889F-9C0FB63F9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9594B4-752E-9498-AB30-49B9691302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4DB0CE-800D-5FEA-B428-B91EA9AA2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74CE1-EA7B-29E3-710A-C45DF0529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CD2D-0507-4637-8F35-10B8E4258089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1DA937-B13D-EBBA-B277-FC7C069F3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873E67-9700-EF23-C48B-107FDDDE4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1014D-0D67-4084-ADD3-14BA62752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670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F87A3-46AA-D95B-6FC2-18EFFC5E1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CFC0FF-FC0B-7A91-BCC3-0557C0C4E3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E98B1-11AC-A6D1-B342-4EA5033FC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CD2D-0507-4637-8F35-10B8E4258089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68783-2093-8EB6-292A-8B6BA34B4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F51F5-08D2-B7CE-9B2D-69DE6109C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1014D-0D67-4084-ADD3-14BA62752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654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C57FBA-23FA-ED0C-32C6-A10280208E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98CA23-C62B-1A4F-E2A2-B9E5E459A3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2B5EA-3DFB-5337-B1C1-0207DBCC1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CD2D-0507-4637-8F35-10B8E4258089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EB3DF-B7AC-7458-CA17-A86DF5B98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244F1-1FF5-5D8F-F06F-C5682EFC7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1014D-0D67-4084-ADD3-14BA62752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124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395261-E249-F7B3-CD07-F0073A776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5D824-73BB-66E7-047E-5C72319C0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551-90AF-498B-6386-9498D6639E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CECD2D-0507-4637-8F35-10B8E4258089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C5202-A326-4175-A912-86EE7D111A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CE5B6-7611-6C4C-C000-4E7D24AC6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91014D-0D67-4084-ADD3-14BA62752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19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AFE21D-2FC9-58B7-C4CC-707F041BEB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n-US" sz="8000">
                <a:solidFill>
                  <a:srgbClr val="FFFFFF"/>
                </a:solidFill>
              </a:rPr>
              <a:t>Agile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ACC4F4-623F-9240-8F08-6E5F48672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422648"/>
            <a:ext cx="8578699" cy="1054351"/>
          </a:xfrm>
        </p:spPr>
        <p:txBody>
          <a:bodyPr>
            <a:normAutofit/>
          </a:bodyPr>
          <a:lstStyle/>
          <a:p>
            <a:pPr algn="l"/>
            <a:r>
              <a:rPr lang="en-US" sz="2000" dirty="0">
                <a:solidFill>
                  <a:srgbClr val="FFFFFF"/>
                </a:solidFill>
              </a:rPr>
              <a:t>Joshua Baum</a:t>
            </a:r>
          </a:p>
          <a:p>
            <a:pPr algn="l"/>
            <a:r>
              <a:rPr lang="en-US" sz="2000" dirty="0">
                <a:solidFill>
                  <a:srgbClr val="FFFFFF"/>
                </a:solidFill>
              </a:rPr>
              <a:t>CS 250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1420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0641A8-AD03-98B7-5642-9ED45A75A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910" y="1598246"/>
            <a:ext cx="4626709" cy="51229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6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Agile Methodology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9F16F3D-A02E-1688-1189-33CF87E38DCE}"/>
              </a:ext>
            </a:extLst>
          </p:cNvPr>
          <p:cNvSpPr txBox="1"/>
          <p:nvPr/>
        </p:nvSpPr>
        <p:spPr>
          <a:xfrm>
            <a:off x="6096000" y="1828800"/>
            <a:ext cx="4800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“An adaptive style of project management that starts the implementation of a project with less well-defined plans of how the project be implemented and recognizes that the requirements and plan for the project are expected to evolve as the project progresses” (Cobb, 2015).</a:t>
            </a:r>
          </a:p>
        </p:txBody>
      </p:sp>
    </p:spTree>
    <p:extLst>
      <p:ext uri="{BB962C8B-B14F-4D97-AF65-F5344CB8AC3E}">
        <p14:creationId xmlns:p14="http://schemas.microsoft.com/office/powerpoint/2010/main" val="2600570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EFA9B6C6-A247-48A8-9A1C-1E36FA945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45E462-1A59-5317-19F9-3683ED615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4399" y="316639"/>
            <a:ext cx="5409655" cy="283893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different roles of Agile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65BAA-6573-7BCE-98D1-0E65A5FA8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9947" y="4541632"/>
            <a:ext cx="2913717" cy="2103711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32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  Scrum Master</a:t>
            </a:r>
          </a:p>
        </p:txBody>
      </p:sp>
      <p:sp>
        <p:nvSpPr>
          <p:cNvPr id="23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5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7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F18C0962-E0F8-85F4-E844-D58BCEEC6287}"/>
              </a:ext>
            </a:extLst>
          </p:cNvPr>
          <p:cNvSpPr txBox="1">
            <a:spLocks/>
          </p:cNvSpPr>
          <p:nvPr/>
        </p:nvSpPr>
        <p:spPr>
          <a:xfrm>
            <a:off x="4762645" y="4541631"/>
            <a:ext cx="2913717" cy="21037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rgbClr val="FFFFFF"/>
                </a:solidFill>
              </a:rPr>
              <a:t> Product Owner</a:t>
            </a:r>
          </a:p>
          <a:p>
            <a:pPr algn="r"/>
            <a:r>
              <a:rPr lang="en-US" sz="3200" dirty="0">
                <a:solidFill>
                  <a:srgbClr val="FFFFFF"/>
                </a:solidFill>
              </a:rPr>
              <a:t>           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BA111D7-37C9-4FD4-D9CD-05F13C166C0B}"/>
              </a:ext>
            </a:extLst>
          </p:cNvPr>
          <p:cNvSpPr txBox="1">
            <a:spLocks/>
          </p:cNvSpPr>
          <p:nvPr/>
        </p:nvSpPr>
        <p:spPr>
          <a:xfrm>
            <a:off x="7744589" y="4541630"/>
            <a:ext cx="2913717" cy="21037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rgbClr val="FFFFFF"/>
                </a:solidFill>
              </a:rPr>
              <a:t>Developer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2766908-4C5E-6994-545F-F43EBA63F306}"/>
              </a:ext>
            </a:extLst>
          </p:cNvPr>
          <p:cNvCxnSpPr>
            <a:cxnSpLocks/>
          </p:cNvCxnSpPr>
          <p:nvPr/>
        </p:nvCxnSpPr>
        <p:spPr>
          <a:xfrm flipH="1">
            <a:off x="4593405" y="3484269"/>
            <a:ext cx="14638" cy="3457551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4B9E0EA-9694-93D1-2946-4D2FA69F419A}"/>
              </a:ext>
            </a:extLst>
          </p:cNvPr>
          <p:cNvCxnSpPr>
            <a:cxnSpLocks/>
          </p:cNvCxnSpPr>
          <p:nvPr/>
        </p:nvCxnSpPr>
        <p:spPr>
          <a:xfrm flipH="1">
            <a:off x="7920741" y="3391571"/>
            <a:ext cx="14638" cy="3457551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9718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CE4303-8059-9E73-4C52-E31D4AA81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910" y="1598246"/>
            <a:ext cx="4626709" cy="51229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Scrum Master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5ECE01B-9B32-1739-EF83-A218BB16E590}"/>
              </a:ext>
            </a:extLst>
          </p:cNvPr>
          <p:cNvSpPr txBox="1"/>
          <p:nvPr/>
        </p:nvSpPr>
        <p:spPr>
          <a:xfrm>
            <a:off x="6096000" y="1264590"/>
            <a:ext cx="5559551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Facilitating Scrum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Planning Scrum implementation within organization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Causing change that increases productivity of the Scrum Team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Finding techniques for effective backlog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Helping Scrum Team understand need for clear and concise backlog items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Coaching Development Team in self-organization and cross-functionality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Removing impediments to the Development Teams progress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(Cobb, 2015).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156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10C96-F57F-5D1E-383F-ECFA56ED7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910" y="1598246"/>
            <a:ext cx="4626709" cy="51229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Product Owner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0BDC635-43A6-1876-8FED-06A25AFBFB4D}"/>
              </a:ext>
            </a:extLst>
          </p:cNvPr>
          <p:cNvSpPr txBox="1"/>
          <p:nvPr/>
        </p:nvSpPr>
        <p:spPr>
          <a:xfrm>
            <a:off x="6096000" y="1694307"/>
            <a:ext cx="528635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Clearly expressing product backlog items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Ordering the items in the backlog to achieve goals and missions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Optimizing the value of the work the Development Team performs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Ensuring that the backlog is visible and transparent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Ensuring the Development team understands the items in the backlog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(Cobb, 2015). </a:t>
            </a:r>
          </a:p>
        </p:txBody>
      </p:sp>
    </p:spTree>
    <p:extLst>
      <p:ext uri="{BB962C8B-B14F-4D97-AF65-F5344CB8AC3E}">
        <p14:creationId xmlns:p14="http://schemas.microsoft.com/office/powerpoint/2010/main" val="71505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7D797D-927C-3751-E096-F21B354EB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910" y="1598246"/>
            <a:ext cx="4626709" cy="51229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Developer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9896899-71BD-A908-2A9F-83190695D889}"/>
              </a:ext>
            </a:extLst>
          </p:cNvPr>
          <p:cNvSpPr txBox="1"/>
          <p:nvPr/>
        </p:nvSpPr>
        <p:spPr>
          <a:xfrm>
            <a:off x="6096000" y="2357464"/>
            <a:ext cx="567689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Self-organized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Cross-functional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Do not recognize titles or sub-teams within the scrum team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Ensure that accountability belongs to the development team as a whole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(Cobb, 2015). </a:t>
            </a:r>
          </a:p>
        </p:txBody>
      </p:sp>
    </p:spTree>
    <p:extLst>
      <p:ext uri="{BB962C8B-B14F-4D97-AF65-F5344CB8AC3E}">
        <p14:creationId xmlns:p14="http://schemas.microsoft.com/office/powerpoint/2010/main" val="3898270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22D1AB-B654-1A4F-CCE0-F9F20566F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910" y="1598246"/>
            <a:ext cx="4626709" cy="51229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Agile Phases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678F9B2-42A3-C65E-9164-197CD10DB8E9}"/>
              </a:ext>
            </a:extLst>
          </p:cNvPr>
          <p:cNvSpPr txBox="1"/>
          <p:nvPr/>
        </p:nvSpPr>
        <p:spPr>
          <a:xfrm>
            <a:off x="6096000" y="197346"/>
            <a:ext cx="5352288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Product Backlog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</a:rPr>
              <a:t>A queue of work to be done, organized in the form of user stories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Sprint Planning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</a:rPr>
              <a:t>Prior to the Sprint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</a:rPr>
              <a:t>As a team, find which stories will be taken into the Sprint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</a:rPr>
              <a:t>Define tasks needed to implement selected stories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Sprints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</a:rPr>
              <a:t>A fixed length time-box of generally two to four weeks where the development is done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Daily Scrum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</a:rPr>
              <a:t>A daily check-in for the team to coordinate, monitor progress, and identify obstacles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Sprint Review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</a:rPr>
              <a:t>Team presents finished work to Product Owner for their review and approval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Sprint Retrospective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</a:rPr>
              <a:t>Review and discuss lessons learned at the end of a sprint to reflect on what went well and what didn’t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(Cobb, 2015)</a:t>
            </a:r>
          </a:p>
        </p:txBody>
      </p:sp>
    </p:spTree>
    <p:extLst>
      <p:ext uri="{BB962C8B-B14F-4D97-AF65-F5344CB8AC3E}">
        <p14:creationId xmlns:p14="http://schemas.microsoft.com/office/powerpoint/2010/main" val="1587865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7E4804-9D5B-0E3E-9381-933F39023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430" y="583345"/>
            <a:ext cx="7160357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Waterfall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E0ABD-ECA5-FC9F-B867-493AF2E38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4039" y="2325315"/>
            <a:ext cx="8578699" cy="3477767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“The waterfall model describes a development method that is linear and sequential. Waterfall development has distinct goals for each phase of development. Imagine a waterfall on the cliff of a steep mountain . Once the water has flowed over the edge of the cliff and has begun its journey down the side of the mountain, it cannot turn back” (Cobb, 2015).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 the development of the SNHU Travel website, we had a change in direction in the middle of development. If we were using the waterfall model, we would have to go back to the very beginning to implement these changes.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434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C3ACD0-BAC9-AB9E-6B58-FBE590D65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2230" y="583345"/>
            <a:ext cx="9328558" cy="12258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7200" dirty="0">
                <a:solidFill>
                  <a:srgbClr val="FFFFFF"/>
                </a:solidFill>
              </a:rPr>
              <a:t>Agile vs. Waterfall</a:t>
            </a:r>
            <a:endParaRPr lang="en-US" sz="72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4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3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9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1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F095140-5D17-5C7A-4803-F477536CA7B0}"/>
              </a:ext>
            </a:extLst>
          </p:cNvPr>
          <p:cNvCxnSpPr>
            <a:cxnSpLocks/>
          </p:cNvCxnSpPr>
          <p:nvPr/>
        </p:nvCxnSpPr>
        <p:spPr>
          <a:xfrm flipH="1">
            <a:off x="5654528" y="3503032"/>
            <a:ext cx="14638" cy="3457551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4DBBB3A-C33E-6601-1334-FC39BA6C85C0}"/>
              </a:ext>
            </a:extLst>
          </p:cNvPr>
          <p:cNvSpPr txBox="1"/>
          <p:nvPr/>
        </p:nvSpPr>
        <p:spPr>
          <a:xfrm>
            <a:off x="1271872" y="2905123"/>
            <a:ext cx="396689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Agile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Adaptive and flexible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Continuous collaboration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Short development cycles, focusing on learning and adapting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Great for changing direction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8F0FA4-4F97-F213-9181-7D0FF884206F}"/>
              </a:ext>
            </a:extLst>
          </p:cNvPr>
          <p:cNvSpPr txBox="1"/>
          <p:nvPr/>
        </p:nvSpPr>
        <p:spPr>
          <a:xfrm>
            <a:off x="6500680" y="2905123"/>
            <a:ext cx="3966899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Waterfall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Plan-driven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Linear and sequential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Predicts project risks at beginning of development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Bad for changing direction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885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69F516-B1F5-6EA5-FD5A-88D1F67B3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6200">
                <a:solidFill>
                  <a:srgbClr val="FFFFFF"/>
                </a:solidFill>
              </a:rPr>
              <a:t>References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39B82-9220-03E2-9BDF-20B92A80D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Cobb, C. G. (2023). </a:t>
            </a:r>
            <a:r>
              <a:rPr lang="en-US" sz="2000" i="1">
                <a:solidFill>
                  <a:schemeClr val="tx1">
                    <a:alpha val="80000"/>
                  </a:schemeClr>
                </a:solidFill>
              </a:rPr>
              <a:t>The Project Manager’s Guide to Mastering Agile: Principles and practices for an adaptive approach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. John Wiley &amp; Sons, Inc. </a:t>
            </a:r>
          </a:p>
          <a:p>
            <a:endParaRPr lang="en-US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8748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508</Words>
  <Application>Microsoft Office PowerPoint</Application>
  <PresentationFormat>Widescreen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Courier New</vt:lpstr>
      <vt:lpstr>Office Theme</vt:lpstr>
      <vt:lpstr>Agile</vt:lpstr>
      <vt:lpstr>Agile Methodology</vt:lpstr>
      <vt:lpstr>The different roles of Agile</vt:lpstr>
      <vt:lpstr>Scrum Master</vt:lpstr>
      <vt:lpstr>Product Owner</vt:lpstr>
      <vt:lpstr>Developer</vt:lpstr>
      <vt:lpstr>Agile Phases</vt:lpstr>
      <vt:lpstr>Waterfall</vt:lpstr>
      <vt:lpstr>Agile vs. Waterfall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Baum, Joshua</dc:creator>
  <cp:lastModifiedBy>Baum, Joshua</cp:lastModifiedBy>
  <cp:revision>6</cp:revision>
  <dcterms:created xsi:type="dcterms:W3CDTF">2026-06-09T19:32:25Z</dcterms:created>
  <dcterms:modified xsi:type="dcterms:W3CDTF">2026-06-21T22:04:35Z</dcterms:modified>
</cp:coreProperties>
</file>